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60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-274320"/>
            <a:ext cx="1371600" cy="1371600"/>
          </a:xfrm>
          <a:prstGeom prst="ellipse">
            <a:avLst/>
          </a:prstGeom>
          <a:solidFill>
            <a:srgbClr val="48CAE4">
              <a:alpha val="20000"/>
            </a:srgbClr>
          </a:solidFill>
          <a:ln w="12700">
            <a:solidFill>
              <a:srgbClr val="48CAE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B4D8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0CAD8"/>
                </a:solidFill>
              </a:rPr>
              <a:t>Using Linear Regression  |  Machine Learning Project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27432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651760" cy="13716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0B4D8"/>
                </a:solidFill>
              </a:rPr>
              <a:t>NAME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S.Shashikanth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3291840"/>
            <a:ext cx="2651760" cy="13716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0B4D8"/>
                </a:solidFill>
              </a:rPr>
              <a:t>ROLL NO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1601-24-771-130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2651760" cy="13716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0B4D8"/>
                </a:solidFill>
              </a:rPr>
              <a:t>COURSE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Machine Learning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75120" y="1463040"/>
            <a:ext cx="1828800" cy="18288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57607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How does temperature affect water usage?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5760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73152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2011680"/>
            <a:ext cx="5504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377440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water usage (liters) based on temperature (°C)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73152" cy="1645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" y="30632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429000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water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planning &amp; budgeting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prevention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2971800"/>
            <a:ext cx="2880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73152" cy="164592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19272" y="306324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9272" y="3429000"/>
            <a:ext cx="2624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resource allocation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usage patterns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 Features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54480"/>
          <a:ext cx="3749040" cy="1371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temperature_C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water_usage_liters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Source:</a:t>
            </a:r>
            <a:r>
              <a:rPr lang="en-US" sz="1200" dirty="0">
                <a:solidFill>
                  <a:srgbClr val="3A3A3A"/>
                </a:solidFill>
              </a:rPr>
              <a:t>  CSV file loaded using pandas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Missing Values:</a:t>
            </a:r>
            <a:r>
              <a:rPr lang="en-US" sz="1200" dirty="0">
                <a:solidFill>
                  <a:srgbClr val="06D6A0"/>
                </a:solidFill>
              </a:rPr>
              <a:t>  None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Features:</a:t>
            </a:r>
            <a:r>
              <a:rPr lang="en-US" sz="1200" dirty="0">
                <a:solidFill>
                  <a:srgbClr val="3A3A3A"/>
                </a:solidFill>
              </a:rPr>
              <a:t>  Single feature dataset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960120"/>
            <a:ext cx="429768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0" y="9601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Sample Data Preview</a:t>
            </a:r>
            <a:endParaRPr lang="en-US" sz="13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17320"/>
          <a:ext cx="4023360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temperature_C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water_usage_liters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572000" y="3840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CAD8"/>
                </a:solidFill>
              </a:rPr>
              <a:t>↑ Single-feature regression dataset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— Linear Regression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y=</a:t>
            </a:r>
            <a:r>
              <a:rPr lang="en-US" sz="36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mx+b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36576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37560" y="9601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= (m * Temperature)+b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64008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Interpretable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the relationship between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efficiently even with small datasets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well when temperature and usage are proportional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64008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37033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1148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starting point before trying complex models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02920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 err="1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</a:t>
            </a:r>
            <a:r>
              <a:rPr lang="en-US" sz="1200" dirty="0" err="1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X,y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 err="1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</a:t>
            </a:r>
            <a:r>
              <a:rPr lang="en-US" sz="1200" dirty="0" err="1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 err="1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</a:t>
            </a:r>
            <a:r>
              <a:rPr lang="en-US" sz="1200" dirty="0" err="1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50992" y="11430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.fit(X, y)  →  Trains the model on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14884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0" y="2148840"/>
            <a:ext cx="73152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50992" y="22860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coef_  →  Slope (m) learned from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29184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0" y="3291840"/>
            <a:ext cx="73152" cy="100584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50992" y="34290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intercept_  →  Base value (b)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Equation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 Usage = (Slope * Temperature) + Intercept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y  =  </a:t>
            </a:r>
            <a:r>
              <a:rPr lang="en-US" sz="2600" b="1" dirty="0" err="1">
                <a:solidFill>
                  <a:srgbClr val="00B4D8"/>
                </a:solidFill>
              </a:rPr>
              <a:t>m₁</a:t>
            </a:r>
            <a:r>
              <a:rPr lang="en-US" sz="2600" b="1" dirty="0" err="1">
                <a:solidFill>
                  <a:srgbClr val="FFD166"/>
                </a:solidFill>
              </a:rPr>
              <a:t>x</a:t>
            </a:r>
            <a:r>
              <a:rPr lang="en-US" sz="2600" b="1" dirty="0">
                <a:solidFill>
                  <a:srgbClr val="FFD166"/>
                </a:solidFill>
              </a:rPr>
              <a:t>₁</a:t>
            </a:r>
            <a:r>
              <a:rPr lang="en-US" sz="2600" b="1" dirty="0">
                <a:solidFill>
                  <a:srgbClr val="FFFFFF"/>
                </a:solidFill>
              </a:rPr>
              <a:t>  +  </a:t>
            </a:r>
            <a:r>
              <a:rPr lang="en-US" sz="2600" b="1" dirty="0" err="1">
                <a:solidFill>
                  <a:srgbClr val="00B4D8"/>
                </a:solidFill>
              </a:rPr>
              <a:t>m₂</a:t>
            </a:r>
            <a:r>
              <a:rPr lang="en-US" sz="2600" b="1" dirty="0" err="1">
                <a:solidFill>
                  <a:srgbClr val="FFD166"/>
                </a:solidFill>
              </a:rPr>
              <a:t>x</a:t>
            </a:r>
            <a:r>
              <a:rPr lang="en-US" sz="2600" b="1" dirty="0">
                <a:solidFill>
                  <a:srgbClr val="FFD166"/>
                </a:solidFill>
              </a:rPr>
              <a:t>₂</a:t>
            </a:r>
            <a:r>
              <a:rPr lang="en-US" sz="2600" b="1" dirty="0">
                <a:solidFill>
                  <a:srgbClr val="FFFFFF"/>
                </a:solidFill>
              </a:rPr>
              <a:t>  +  ...  +  </a:t>
            </a:r>
            <a:r>
              <a:rPr lang="en-US" sz="2600" b="1" dirty="0" err="1">
                <a:solidFill>
                  <a:srgbClr val="00B4D8"/>
                </a:solidFill>
              </a:rPr>
              <a:t>mₙ</a:t>
            </a:r>
            <a:r>
              <a:rPr lang="en-US" sz="2600" b="1" dirty="0" err="1">
                <a:solidFill>
                  <a:srgbClr val="FFD166"/>
                </a:solidFill>
              </a:rPr>
              <a:t>x</a:t>
            </a:r>
            <a:r>
              <a:rPr lang="en-US" sz="2600" b="1" dirty="0">
                <a:solidFill>
                  <a:srgbClr val="FFD166"/>
                </a:solidFill>
              </a:rPr>
              <a:t>ₙ</a:t>
            </a:r>
            <a:r>
              <a:rPr lang="en-US" sz="2600" b="1" dirty="0">
                <a:solidFill>
                  <a:srgbClr val="FFFFFF"/>
                </a:solidFill>
              </a:rPr>
              <a:t>  +  </a:t>
            </a:r>
            <a:r>
              <a:rPr lang="en-US" sz="2600" b="1" dirty="0">
                <a:solidFill>
                  <a:srgbClr val="06D6A0"/>
                </a:solidFill>
              </a:rPr>
              <a:t>b</a:t>
            </a:r>
          </a:p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COEFFICIENTS (m₁...mₙ)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coef_[0..n]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Each coefficient shows the effect of one feature on the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e.g., m₁=5.8 for temp, m₂=3.2 for humidity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256032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54680" y="2560320"/>
            <a:ext cx="2743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5468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INTERCEPT (b)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intercept_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Base water usage at 0°C (constant offset)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e.g., b = 40 → minimum baseline usage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56032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35040" y="2560320"/>
            <a:ext cx="274320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FEATURES (x₁...xₙ)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x₁, x₂ ... xₙ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Multiple input variables (e.g., temp, humidity, population)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</a:rPr>
              <a:t>Each xᵢ contributes independently to the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43200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R²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Measures how well predictions match actual values. Range: 0 to 1. Closer to 1 = better fit.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2468880" cy="64008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Target: &gt; 0.85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54680" y="1005840"/>
            <a:ext cx="274320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5468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MSE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1546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Mean Squared 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1945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Penalizes large errors heavily. Measures the average squared difference between predicted and actual.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749040"/>
            <a:ext cx="2468880" cy="64008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9184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Target: as low as possible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2743200" cy="109728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3504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RMSE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03504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Root Mean Squared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1945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In the same units as the target variable (liters). Easier to interpret than MSE.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749040"/>
            <a:ext cx="2468880" cy="640080"/>
          </a:xfrm>
          <a:prstGeom prst="rect">
            <a:avLst/>
          </a:prstGeom>
          <a:solidFill>
            <a:srgbClr val="EF8354">
              <a:alpha val="15000"/>
            </a:srgbClr>
          </a:solidFill>
          <a:ln w="12700">
            <a:solidFill>
              <a:srgbClr val="EF835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7220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Target: as low as possible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2377440"/>
          </a:xfrm>
          <a:prstGeom prst="rect">
            <a:avLst/>
          </a:prstGeom>
          <a:solidFill>
            <a:srgbClr val="0A1628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D6A0"/>
                </a:solidFill>
              </a:rPr>
              <a:t>0.95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CAD8"/>
                </a:solidFill>
              </a:rPr>
              <a:t>95%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743200" cy="23774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5468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</a:rPr>
              <a:t>637.5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1546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CAD8"/>
                </a:solidFill>
              </a:rPr>
              <a:t>Low squared error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743200" cy="2377440"/>
          </a:xfrm>
          <a:prstGeom prst="rect">
            <a:avLst/>
          </a:prstGeom>
          <a:solidFill>
            <a:srgbClr val="0A1628"/>
          </a:solidFill>
          <a:ln w="1905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3504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F8354"/>
                </a:solidFill>
              </a:rPr>
              <a:t>25.25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RMSE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CAD8"/>
                </a:solidFill>
              </a:rPr>
              <a:t>~25 L avg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8595360" cy="1280160"/>
          </a:xfrm>
          <a:prstGeom prst="rect">
            <a:avLst/>
          </a:prstGeom>
          <a:solidFill>
            <a:srgbClr val="E8F8F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56616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✓  </a:t>
            </a:r>
            <a:r>
              <a:rPr lang="en-US" sz="1300" b="1" dirty="0">
                <a:solidFill>
                  <a:srgbClr val="0A1628"/>
                </a:solidFill>
              </a:rPr>
              <a:t>Model successfully predicts water usage from temperature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     High R² score confirms strong linear relationship between features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84" y="0"/>
            <a:ext cx="914399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D1E72-A77B-0227-A995-E49F55399699}"/>
              </a:ext>
            </a:extLst>
          </p:cNvPr>
          <p:cNvSpPr txBox="1"/>
          <p:nvPr/>
        </p:nvSpPr>
        <p:spPr>
          <a:xfrm>
            <a:off x="6244389" y="839202"/>
            <a:ext cx="2553702" cy="20123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P</a:t>
            </a:r>
            <a:r>
              <a:rPr lang="en-US" sz="3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REDICTIONS</a:t>
            </a:r>
            <a:endParaRPr lang="en-US" sz="3000" kern="1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32300" y="127730"/>
            <a:ext cx="1886211" cy="1630750"/>
            <a:chOff x="-305" y="-4155"/>
            <a:chExt cx="2514948" cy="217433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847914" y="3420552"/>
            <a:ext cx="2296085" cy="1722947"/>
            <a:chOff x="-305" y="-1"/>
            <a:chExt cx="3832880" cy="2876136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7BABDFC-B145-0DF2-AD6A-43AA3B8FF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80" y="570440"/>
            <a:ext cx="5704109" cy="4002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A2E7D-5B82-7674-4F2E-E6AFA62B7A12}"/>
              </a:ext>
            </a:extLst>
          </p:cNvPr>
          <p:cNvSpPr txBox="1"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Residual Plot</a:t>
            </a:r>
            <a:endParaRPr lang="en-US" sz="3000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B2121-0DCD-4940-9B8F-E201F3AA6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959" y="1474719"/>
            <a:ext cx="4408079" cy="333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Residual  =  </a:t>
            </a:r>
            <a:r>
              <a:rPr lang="en-US" sz="2200" b="1" dirty="0">
                <a:solidFill>
                  <a:srgbClr val="06D6A0"/>
                </a:solidFill>
              </a:rPr>
              <a:t>Actual Value</a:t>
            </a:r>
            <a:r>
              <a:rPr lang="en-US" sz="2200" b="1" dirty="0">
                <a:solidFill>
                  <a:srgbClr val="FFFFFF"/>
                </a:solidFill>
              </a:rPr>
              <a:t>  −  </a:t>
            </a:r>
            <a:r>
              <a:rPr lang="en-US" sz="2200" b="1" dirty="0">
                <a:solidFill>
                  <a:srgbClr val="EF8354"/>
                </a:solidFill>
              </a:rPr>
              <a:t>Predicted Value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731520" cy="128016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1628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Near Zero = Good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Residuals close to 0 mean the model predicts accurately with minimal error.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01168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09160" y="2011680"/>
            <a:ext cx="731520" cy="128016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201168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1628"/>
                </a:solidFill>
              </a:rPr>
              <a:t>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Random Spread = Better Fit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2514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No systematic pattern in residuals means the model captured all trends.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731520" cy="1280160"/>
          </a:xfrm>
          <a:prstGeom prst="rect">
            <a:avLst/>
          </a:prstGeom>
          <a:solidFill>
            <a:srgbClr val="EF8354">
              <a:alpha val="80000"/>
            </a:srgbClr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1628"/>
                </a:solidFill>
              </a:rPr>
              <a:t>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Large Values = Issues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233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Big residuals indicate the model is missing some pattern in the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731520" cy="128016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9160" y="352044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1628"/>
                </a:solidFill>
              </a:rPr>
              <a:t>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Balanced +/−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40233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Equal positive and negative residuals means no consistent over/under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132238"/>
          </a:solidFill>
          <a:ln w="952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Linear Regression successfully models water usage from temperature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3223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48640" cy="6858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Model is simple, fast, and highly interpretable for real-world use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132238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48640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Achieved high R² score with low prediction errors (MSE/RMSE)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32238"/>
          </a:solidFill>
          <a:ln w="952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48640" cy="68580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3192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Suitable baseline model for water resource management systems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Add More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384048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Humidity (%)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High humidity reduces evaporation and may affect usage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41448"/>
            <a:ext cx="384048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Population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Scale predictions by regional population density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191256"/>
            <a:ext cx="384048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Season /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Capture seasonal demand fluctuations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41064"/>
            <a:ext cx="384048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968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Day of Week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42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Weekday vs weekend behavioral patterns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206240" cy="50292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1005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Try Advanced Models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691640"/>
            <a:ext cx="3931920" cy="621792"/>
          </a:xfrm>
          <a:prstGeom prst="rect">
            <a:avLst/>
          </a:prstGeom>
          <a:solidFill>
            <a:srgbClr val="FFF5F0"/>
          </a:solidFill>
          <a:ln w="12700">
            <a:solidFill>
              <a:srgbClr val="FDD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377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8354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[Medium complexity]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Captures non-linear splits &amp; interactions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441448"/>
            <a:ext cx="3931920" cy="621792"/>
          </a:xfrm>
          <a:prstGeom prst="rect">
            <a:avLst/>
          </a:prstGeom>
          <a:solidFill>
            <a:srgbClr val="FFF5F0"/>
          </a:solidFill>
          <a:ln w="12700">
            <a:solidFill>
              <a:srgbClr val="FDD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8354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[High accuracy]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Ensemble of trees with lower overfitting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191256"/>
            <a:ext cx="3931920" cy="621792"/>
          </a:xfrm>
          <a:prstGeom prst="rect">
            <a:avLst/>
          </a:prstGeom>
          <a:solidFill>
            <a:srgbClr val="FFF5F0"/>
          </a:solidFill>
          <a:ln w="12700">
            <a:solidFill>
              <a:srgbClr val="FDD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8354"/>
                </a:solidFill>
              </a:rPr>
              <a:t>Polynomial Regression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[Better non-linearity]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Extends linear model with curved fit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941064"/>
            <a:ext cx="3931920" cy="621792"/>
          </a:xfrm>
          <a:prstGeom prst="rect">
            <a:avLst/>
          </a:prstGeom>
          <a:solidFill>
            <a:srgbClr val="FFF5F0"/>
          </a:solidFill>
          <a:ln w="12700">
            <a:solidFill>
              <a:srgbClr val="FDD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37760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8354"/>
                </a:solidFill>
              </a:rPr>
              <a:t>Neural Network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[Very high accuracy]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4242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Deep learning for complex patterns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51</TotalTime>
  <Words>763</Words>
  <Application>Microsoft Office PowerPoint</Application>
  <PresentationFormat>On-screen Show (16:9)</PresentationFormat>
  <Paragraphs>183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Usage Prediction - ML Project</dc:title>
  <dc:subject>PptxGenJS Presentation</dc:subject>
  <dc:creator>PptxGenJS</dc:creator>
  <cp:lastModifiedBy>Pavan Sai</cp:lastModifiedBy>
  <cp:revision>6</cp:revision>
  <dcterms:created xsi:type="dcterms:W3CDTF">2026-05-03T14:10:29Z</dcterms:created>
  <dcterms:modified xsi:type="dcterms:W3CDTF">2026-05-05T03:53:10Z</dcterms:modified>
</cp:coreProperties>
</file>